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Waste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B4D8"/>
                </a:solidFill>
                <a:latin typeface="Calibri"/>
              </a:rPr>
              <a:t>Using Deep Learning &amp; Transfer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63240"/>
            <a:ext cx="5029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8AA4BB"/>
                </a:solidFill>
                <a:latin typeface="Calibri"/>
              </a:rPr>
              <a:t>Introduction to Deep Learning — C</a:t>
            </a:r>
            <a:r>
              <a:rPr lang="en-IN" sz="1700" b="0" i="0" dirty="0">
                <a:solidFill>
                  <a:srgbClr val="8AA4BB"/>
                </a:solidFill>
                <a:latin typeface="Calibri"/>
              </a:rPr>
              <a:t>A 4</a:t>
            </a:r>
            <a:endParaRPr sz="1700" b="0" i="0" dirty="0">
              <a:solidFill>
                <a:srgbClr val="8AA4B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A4BB"/>
                </a:solidFill>
                <a:latin typeface="Calibri"/>
              </a:rPr>
              <a:t>MobileNetV2 · Transfer Learning · Binary Classification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2194560" cy="411480"/>
          </a:xfrm>
          <a:prstGeom prst="rect">
            <a:avLst/>
          </a:prstGeom>
          <a:solidFill>
            <a:srgbClr val="043A5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7731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TensorFlow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4754880"/>
            <a:ext cx="2194560" cy="411480"/>
          </a:xfrm>
          <a:prstGeom prst="rect">
            <a:avLst/>
          </a:prstGeom>
          <a:solidFill>
            <a:srgbClr val="043A5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47731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MobileNetV2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754880"/>
            <a:ext cx="2194560" cy="411480"/>
          </a:xfrm>
          <a:prstGeom prst="rect">
            <a:avLst/>
          </a:prstGeom>
          <a:solidFill>
            <a:srgbClr val="043A5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7731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Kaggle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IDL Course Project  |  2025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D09BC3-BEDD-ABD8-3B6C-0E756E221BDB}"/>
              </a:ext>
            </a:extLst>
          </p:cNvPr>
          <p:cNvSpPr txBox="1"/>
          <p:nvPr/>
        </p:nvSpPr>
        <p:spPr>
          <a:xfrm>
            <a:off x="8047703" y="594360"/>
            <a:ext cx="399681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700" b="0" i="0" dirty="0">
                <a:solidFill>
                  <a:srgbClr val="8AA4BB"/>
                </a:solidFill>
                <a:latin typeface="Calibri"/>
              </a:rPr>
              <a:t>Presented by</a:t>
            </a:r>
            <a:r>
              <a:rPr lang="en-IN" sz="1700" dirty="0">
                <a:solidFill>
                  <a:srgbClr val="8AA4BB"/>
                </a:solidFill>
                <a:latin typeface="Calibri"/>
              </a:rPr>
              <a:t>:</a:t>
            </a:r>
          </a:p>
          <a:p>
            <a:pPr algn="l"/>
            <a:r>
              <a:rPr lang="en-IN" sz="1700" b="0" i="0" dirty="0">
                <a:solidFill>
                  <a:srgbClr val="8AA4BB"/>
                </a:solidFill>
                <a:latin typeface="Calibri"/>
              </a:rPr>
              <a:t>Amey </a:t>
            </a:r>
            <a:r>
              <a:rPr lang="en-IN" sz="1700" dirty="0">
                <a:solidFill>
                  <a:srgbClr val="8AA4BB"/>
                </a:solidFill>
                <a:latin typeface="Calibri"/>
              </a:rPr>
              <a:t>Kumar			23070123019</a:t>
            </a:r>
          </a:p>
          <a:p>
            <a:pPr algn="l"/>
            <a:r>
              <a:rPr lang="en-IN" sz="1700" b="0" i="0" dirty="0">
                <a:solidFill>
                  <a:srgbClr val="8AA4BB"/>
                </a:solidFill>
                <a:latin typeface="Calibri"/>
              </a:rPr>
              <a:t>Anushka Shinde		23070123025</a:t>
            </a:r>
          </a:p>
          <a:p>
            <a:pPr algn="l"/>
            <a:r>
              <a:rPr lang="en-IN" sz="1700" dirty="0">
                <a:solidFill>
                  <a:srgbClr val="8AA4BB"/>
                </a:solidFill>
                <a:latin typeface="Calibri"/>
              </a:rPr>
              <a:t>Jiya Palod				23070123070</a:t>
            </a:r>
            <a:endParaRPr sz="1700" b="0" i="0" dirty="0">
              <a:solidFill>
                <a:srgbClr val="8AA4B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4206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303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2B3C"/>
                </a:solidFill>
                <a:latin typeface="Calibri"/>
              </a:rPr>
              <a:t>🗑  Improper waste sorting is a </a:t>
            </a:r>
            <a:r>
              <a:rPr lang="en-IN" b="0" i="0" dirty="0">
                <a:solidFill>
                  <a:srgbClr val="1A2B3C"/>
                </a:solidFill>
                <a:latin typeface="Calibri"/>
              </a:rPr>
              <a:t>major</a:t>
            </a:r>
            <a:r>
              <a:rPr b="0" i="0" dirty="0">
                <a:solidFill>
                  <a:srgbClr val="1A2B3C"/>
                </a:solidFill>
                <a:latin typeface="Calibri"/>
              </a:rPr>
              <a:t> environmental </a:t>
            </a:r>
            <a:r>
              <a:rPr lang="en-IN" b="0" i="0" dirty="0">
                <a:solidFill>
                  <a:srgbClr val="1A2B3C"/>
                </a:solidFill>
                <a:latin typeface="Calibri"/>
              </a:rPr>
              <a:t>issue</a:t>
            </a:r>
            <a:endParaRPr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679192"/>
            <a:ext cx="5303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752344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2B3C"/>
                </a:solidFill>
                <a:latin typeface="Calibri"/>
              </a:rPr>
              <a:t>♻  Manual classification is slow, inconsistent &amp; expensive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66744"/>
            <a:ext cx="5303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39896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2B3C"/>
                </a:solidFill>
                <a:latin typeface="Calibri"/>
              </a:rPr>
              <a:t>📦  Recyclable materials end up in landfills due to human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54296"/>
            <a:ext cx="5303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727448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2B3C"/>
                </a:solidFill>
                <a:latin typeface="Calibri"/>
              </a:rPr>
              <a:t>🏭  Smart waste systems need automated sorting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188720"/>
            <a:ext cx="64008" cy="4206240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Objectives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691640"/>
            <a:ext cx="52120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1691640"/>
            <a:ext cx="548640" cy="8412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87452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737360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Binary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103120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Classify images as Organic or Recyclable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679192"/>
            <a:ext cx="52120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92240" y="2679192"/>
            <a:ext cx="548640" cy="8412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862072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724912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Transfer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090672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Leverage MobileNetV2 pre-trained on ImageNet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666744"/>
            <a:ext cx="52120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0" y="3666744"/>
            <a:ext cx="548640" cy="8412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84962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712464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High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78224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Achieve strong test accuracy via fine-tuning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654296"/>
            <a:ext cx="52120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4654296"/>
            <a:ext cx="548640" cy="8412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837176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700016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Generalization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065776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Apply augmentation to reduce overfitting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Working Model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End-to-end transfer learning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2514600"/>
            <a:ext cx="2286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1920240" cy="2560320"/>
          </a:xfrm>
          <a:prstGeom prst="rect">
            <a:avLst/>
          </a:prstGeom>
          <a:solidFill>
            <a:srgbClr val="042F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21408"/>
            <a:ext cx="1920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Input
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Images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2852928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4BB"/>
                </a:solidFill>
                <a:latin typeface="Calibri"/>
              </a:rPr>
              <a:t>160×160 px
RGB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514600"/>
            <a:ext cx="2286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0" y="1463040"/>
            <a:ext cx="1920240" cy="2560320"/>
          </a:xfrm>
          <a:prstGeom prst="rect">
            <a:avLst/>
          </a:prstGeom>
          <a:solidFill>
            <a:srgbClr val="042F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1600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121408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Data
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52928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4BB"/>
                </a:solidFill>
                <a:latin typeface="Calibri"/>
              </a:rPr>
              <a:t>Flip · Zoom
Rescale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2514600"/>
            <a:ext cx="2286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1463040"/>
            <a:ext cx="1920240" cy="2560320"/>
          </a:xfrm>
          <a:prstGeom prst="rect">
            <a:avLst/>
          </a:prstGeom>
          <a:solidFill>
            <a:srgbClr val="042F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1600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121408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MobileNetV2
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52928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4BB"/>
                </a:solidFill>
                <a:latin typeface="Calibri"/>
              </a:rPr>
              <a:t>ImageNet
Weights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514600"/>
            <a:ext cx="2286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0" y="1463040"/>
            <a:ext cx="1920240" cy="2560320"/>
          </a:xfrm>
          <a:prstGeom prst="rect">
            <a:avLst/>
          </a:prstGeom>
          <a:solidFill>
            <a:srgbClr val="042F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1600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121408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Custom
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52928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4BB"/>
                </a:solidFill>
                <a:latin typeface="Calibri"/>
              </a:rPr>
              <a:t>GAP → Dense
→ Dropout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1463040"/>
            <a:ext cx="1920240" cy="2560320"/>
          </a:xfrm>
          <a:prstGeom prst="rect">
            <a:avLst/>
          </a:prstGeom>
          <a:solidFill>
            <a:srgbClr val="042F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1600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21408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Output
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852928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4BB"/>
                </a:solidFill>
                <a:latin typeface="Calibri"/>
              </a:rPr>
              <a:t>Organic /
Recyclable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297680"/>
            <a:ext cx="2651760" cy="137160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407408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4D8"/>
                </a:solidFill>
                <a:latin typeface="Calibri"/>
              </a:rPr>
              <a:t>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00600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Kaggle: Waste Classification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4297680"/>
            <a:ext cx="2651760" cy="137160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4407408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4D8"/>
                </a:solidFill>
                <a:latin typeface="Calibri"/>
              </a:rPr>
              <a:t>CLASSES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800600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2 — Organic (O) &amp; Recyclable (R)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297680"/>
            <a:ext cx="2651760" cy="137160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407408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0060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TensorFlow / Keras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4297680"/>
            <a:ext cx="2651760" cy="137160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26880" y="4407408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4D8"/>
                </a:solidFill>
                <a:latin typeface="Calibri"/>
              </a:rPr>
              <a:t>TRAINING</a:t>
            </a:r>
            <a:endParaRPr sz="1000" b="1" i="0" dirty="0">
              <a:solidFill>
                <a:srgbClr val="00B4D8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26880" y="480060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dirty="0">
                <a:solidFill>
                  <a:srgbClr val="FFFFFF"/>
                </a:solidFill>
                <a:latin typeface="Calibri"/>
              </a:rPr>
              <a:t>Fine-tuning last 20 layers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Architecture &amp; Hyperparameters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Architecture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56235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109728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2B3C"/>
                </a:solidFill>
                <a:latin typeface="Calibri"/>
              </a:rPr>
              <a:t>MobileNetV2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Pre-trained backbone, last 20 layers trainable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78608"/>
            <a:ext cx="56235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578608"/>
            <a:ext cx="109728" cy="80467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GlobalAveragePooling2D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Reduces spatial dimensions to 1280-d vector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93008"/>
            <a:ext cx="56235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493008"/>
            <a:ext cx="109728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2B3C"/>
                </a:solidFill>
                <a:latin typeface="Calibri"/>
              </a:rPr>
              <a:t>Dense (128</a:t>
            </a:r>
            <a:r>
              <a:rPr lang="en-IN" sz="1600" b="1" i="0" dirty="0">
                <a:solidFill>
                  <a:srgbClr val="1A2B3C"/>
                </a:solidFill>
                <a:latin typeface="Calibri"/>
              </a:rPr>
              <a:t> units</a:t>
            </a:r>
            <a:r>
              <a:rPr sz="1600" b="1" i="0" dirty="0">
                <a:solidFill>
                  <a:srgbClr val="1A2B3C"/>
                </a:solidFill>
                <a:latin typeface="Calibri"/>
              </a:rPr>
              <a:t>, </a:t>
            </a:r>
            <a:r>
              <a:rPr sz="1600" b="1" i="0" dirty="0" err="1">
                <a:solidFill>
                  <a:srgbClr val="1A2B3C"/>
                </a:solidFill>
                <a:latin typeface="Calibri"/>
              </a:rPr>
              <a:t>ReLU</a:t>
            </a:r>
            <a:r>
              <a:rPr lang="en-IN" sz="1600" b="1" i="0" dirty="0">
                <a:solidFill>
                  <a:srgbClr val="1A2B3C"/>
                </a:solidFill>
                <a:latin typeface="Calibri"/>
              </a:rPr>
              <a:t> activation</a:t>
            </a:r>
            <a:r>
              <a:rPr sz="1600" b="1" i="0" dirty="0">
                <a:solidFill>
                  <a:srgbClr val="1A2B3C"/>
                </a:solidFill>
                <a:latin typeface="Calibri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Learns task-specific feature combinations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07408"/>
            <a:ext cx="56235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4407408"/>
            <a:ext cx="109728" cy="804672"/>
          </a:xfrm>
          <a:prstGeom prst="rect">
            <a:avLst/>
          </a:prstGeom>
          <a:solidFill>
            <a:srgbClr val="027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462272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2B3C"/>
                </a:solidFill>
                <a:latin typeface="Calibri"/>
              </a:rPr>
              <a:t>Dropout (0.</a:t>
            </a:r>
            <a:r>
              <a:rPr lang="en-IN" sz="1600" b="1" dirty="0">
                <a:solidFill>
                  <a:srgbClr val="1A2B3C"/>
                </a:solidFill>
                <a:latin typeface="Calibri"/>
              </a:rPr>
              <a:t>4</a:t>
            </a:r>
            <a:r>
              <a:rPr sz="1600" b="1" i="0" dirty="0">
                <a:solidFill>
                  <a:srgbClr val="1A2B3C"/>
                </a:solidFill>
                <a:latin typeface="Calibri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28032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Regularization — prevents overfitting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321808"/>
            <a:ext cx="56235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5321808"/>
            <a:ext cx="109728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376672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Dense (2, Softmax)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42432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Output layer — class probabilities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Hyperparameters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664208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173736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779A"/>
                </a:solidFill>
                <a:latin typeface="Calibri"/>
              </a:rPr>
              <a:t>Input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73736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dirty="0">
                <a:solidFill>
                  <a:srgbClr val="1A2B3C"/>
                </a:solidFill>
                <a:latin typeface="Calibri"/>
              </a:rPr>
              <a:t>160</a:t>
            </a:r>
            <a:r>
              <a:rPr sz="1600" b="0" i="0" dirty="0">
                <a:solidFill>
                  <a:srgbClr val="1A2B3C"/>
                </a:solidFill>
                <a:latin typeface="Calibri"/>
              </a:rPr>
              <a:t> × </a:t>
            </a:r>
            <a:r>
              <a:rPr lang="en-IN" sz="1600" b="0" i="0" dirty="0">
                <a:solidFill>
                  <a:srgbClr val="1A2B3C"/>
                </a:solidFill>
                <a:latin typeface="Calibri"/>
              </a:rPr>
              <a:t>160</a:t>
            </a:r>
            <a:r>
              <a:rPr sz="1600" b="0" i="0" dirty="0">
                <a:solidFill>
                  <a:srgbClr val="1A2B3C"/>
                </a:solidFill>
                <a:latin typeface="Calibri"/>
              </a:rPr>
              <a:t> ×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368296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2441448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779A"/>
                </a:solidFill>
                <a:latin typeface="Calibri"/>
              </a:rPr>
              <a:t>Batch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244144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64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072384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3145536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779A"/>
                </a:solidFill>
                <a:latin typeface="Calibri"/>
              </a:rPr>
              <a:t>Optimizer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145536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Adam (lr = 0.0001)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776472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3849624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779A"/>
                </a:solidFill>
                <a:latin typeface="Calibri"/>
              </a:rPr>
              <a:t>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849624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Categorical Crossentropy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480560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0840" y="4553712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779A"/>
                </a:solidFill>
                <a:latin typeface="Calibri"/>
              </a:rPr>
              <a:t>Epochs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553712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10 (EarlyStopping, patience=3)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5184648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20840" y="525780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779A"/>
                </a:solidFill>
                <a:latin typeface="Calibri"/>
              </a:rPr>
              <a:t>Frozen Layers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525780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1A2B3C"/>
                </a:solidFill>
                <a:latin typeface="Calibri"/>
              </a:rPr>
              <a:t>All but last 20 of MobileNetV2</a:t>
            </a:r>
            <a:endParaRPr sz="160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583680" y="5888736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0840" y="5961888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779A"/>
                </a:solidFill>
                <a:latin typeface="Calibri"/>
              </a:rPr>
              <a:t>Augmentation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96188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Horizontal flip, zoom ±10%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Training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AA4BB"/>
                </a:solidFill>
                <a:latin typeface="Calibri"/>
              </a:rPr>
              <a:t>Slide 1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651760" cy="1371600"/>
          </a:xfrm>
          <a:prstGeom prst="rect">
            <a:avLst/>
          </a:prstGeom>
          <a:solidFill>
            <a:srgbClr val="042F52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651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2ECC71"/>
                </a:solidFill>
                <a:latin typeface="Calibri"/>
              </a:rPr>
              <a:t>~9</a:t>
            </a:r>
            <a:r>
              <a:rPr lang="en-IN" sz="4000" b="1" i="0" dirty="0">
                <a:solidFill>
                  <a:srgbClr val="2ECC71"/>
                </a:solidFill>
                <a:latin typeface="Calibri"/>
              </a:rPr>
              <a:t>4</a:t>
            </a:r>
            <a:r>
              <a:rPr sz="4000" b="1" i="0" dirty="0">
                <a:solidFill>
                  <a:srgbClr val="2ECC71"/>
                </a:solidFill>
                <a:latin typeface="Calibri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4BB"/>
                </a:solidFill>
                <a:latin typeface="Calibri"/>
              </a:rPr>
              <a:t>Train
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188720"/>
            <a:ext cx="2651760" cy="1371600"/>
          </a:xfrm>
          <a:prstGeom prst="rect">
            <a:avLst/>
          </a:prstGeom>
          <a:solidFill>
            <a:srgbClr val="042F52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~90%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7451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4BB"/>
                </a:solidFill>
                <a:latin typeface="Calibri"/>
              </a:rPr>
              <a:t>Val
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2651760" cy="1371600"/>
          </a:xfrm>
          <a:prstGeom prst="rect">
            <a:avLst/>
          </a:prstGeom>
          <a:solidFill>
            <a:srgbClr val="042F52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29844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39600"/>
                </a:solidFill>
                <a:latin typeface="Calibri"/>
              </a:rPr>
              <a:t>~0.18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4BB"/>
                </a:solidFill>
                <a:latin typeface="Calibri"/>
              </a:rPr>
              <a:t>Final
Val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188720"/>
            <a:ext cx="2651760" cy="1371600"/>
          </a:xfrm>
          <a:prstGeom prst="rect">
            <a:avLst/>
          </a:prstGeom>
          <a:solidFill>
            <a:srgbClr val="042F52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129844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400" b="1" i="0" dirty="0">
                <a:solidFill>
                  <a:srgbClr val="A06FFF"/>
                </a:solidFill>
                <a:latin typeface="Calibri"/>
              </a:rPr>
              <a:t>6</a:t>
            </a:r>
            <a:r>
              <a:rPr sz="3400" b="1" i="0" dirty="0">
                <a:solidFill>
                  <a:srgbClr val="A06FFF"/>
                </a:solidFill>
                <a:latin typeface="Calibri"/>
              </a:rPr>
              <a:t> ep</a:t>
            </a:r>
            <a:r>
              <a:rPr lang="en-IN" sz="3400" b="1" i="0" dirty="0">
                <a:solidFill>
                  <a:srgbClr val="A06FFF"/>
                </a:solidFill>
                <a:latin typeface="Calibri"/>
              </a:rPr>
              <a:t>och</a:t>
            </a:r>
            <a:endParaRPr sz="3400" b="1" i="0" dirty="0">
              <a:solidFill>
                <a:srgbClr val="A06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89720" y="187451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4BB"/>
                </a:solidFill>
                <a:latin typeface="Calibri"/>
              </a:rPr>
              <a:t>Early
Stopping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539" y="2999230"/>
            <a:ext cx="5959784" cy="3675890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6263640"/>
            <a:ext cx="740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4BB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743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Observations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291840"/>
            <a:ext cx="5303520" cy="594360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3364992"/>
            <a:ext cx="507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✔  Model converged rapidly within ~</a:t>
            </a:r>
            <a:r>
              <a:rPr lang="en-IN" sz="1600" b="0" i="0" dirty="0">
                <a:solidFill>
                  <a:srgbClr val="FFFFFF"/>
                </a:solidFill>
                <a:latin typeface="Calibri"/>
              </a:rPr>
              <a:t>6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epochs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005072"/>
            <a:ext cx="5303520" cy="594360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4078224"/>
            <a:ext cx="5074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EarlyStopping prevented overfitting by restoring best weights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718304"/>
            <a:ext cx="5303520" cy="594360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4791456"/>
            <a:ext cx="507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Small learning rate (1e-4) ensured stable fine-tuning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431536"/>
            <a:ext cx="5303520" cy="594360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37960" y="5504688"/>
            <a:ext cx="507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Data augmentation improved generalization on test 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6144768"/>
            <a:ext cx="5303520" cy="594360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7960" y="6217920"/>
            <a:ext cx="507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Train/Val accuracy gap &lt; 3% — low overfitting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D8FCC1C-F192-61BC-FD44-9391E6915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79" y="3642412"/>
            <a:ext cx="5768433" cy="2298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Evaluation &amp; Sample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AA4BB"/>
                </a:solidFill>
                <a:latin typeface="Calibri"/>
              </a:rPr>
              <a:t>Slide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Per-Class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64592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70992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600200"/>
            <a:ext cx="105156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76272" y="170992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600200"/>
            <a:ext cx="105156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7832" y="170992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00200"/>
            <a:ext cx="105156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170992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600200"/>
            <a:ext cx="105156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0952" y="1709928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93976"/>
            <a:ext cx="16459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20370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2B3C"/>
                </a:solidFill>
                <a:latin typeface="Calibri"/>
              </a:rPr>
              <a:t>Organic (O)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093976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76272" y="2203704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0" i="0" dirty="0">
                <a:solidFill>
                  <a:srgbClr val="1A2B3C"/>
                </a:solidFill>
                <a:latin typeface="Calibri"/>
              </a:rPr>
              <a:t>0.97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54680" y="2093976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27832" y="2203704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dirty="0">
                <a:solidFill>
                  <a:srgbClr val="1A2B3C"/>
                </a:solidFill>
                <a:latin typeface="Calibri"/>
              </a:rPr>
              <a:t>0.92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06240" y="2093976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9392" y="2203704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0" i="0" dirty="0">
                <a:solidFill>
                  <a:srgbClr val="1A2B3C"/>
                </a:solidFill>
                <a:latin typeface="Calibri"/>
              </a:rPr>
              <a:t>0.95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257800" y="2093976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30952" y="2203704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2B3C"/>
                </a:solidFill>
                <a:latin typeface="Calibri"/>
              </a:rPr>
              <a:t>1401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587752"/>
            <a:ext cx="1645920" cy="493776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269748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2B3C"/>
                </a:solidFill>
                <a:latin typeface="Calibri"/>
              </a:rPr>
              <a:t>Recyclable (R)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587752"/>
            <a:ext cx="1051560" cy="493776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76272" y="2697480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0" i="0" dirty="0">
                <a:solidFill>
                  <a:srgbClr val="1A2B3C"/>
                </a:solidFill>
                <a:latin typeface="Calibri"/>
              </a:rPr>
              <a:t>0.91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54680" y="2587752"/>
            <a:ext cx="1051560" cy="493776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27832" y="2697480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0" i="0" dirty="0">
                <a:solidFill>
                  <a:srgbClr val="1A2B3C"/>
                </a:solidFill>
                <a:latin typeface="Calibri"/>
              </a:rPr>
              <a:t>0.97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206240" y="2587752"/>
            <a:ext cx="1051560" cy="493776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9392" y="2697480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0" i="0" dirty="0">
                <a:solidFill>
                  <a:srgbClr val="1A2B3C"/>
                </a:solidFill>
                <a:latin typeface="Calibri"/>
              </a:rPr>
              <a:t>0.94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257800" y="2587752"/>
            <a:ext cx="1051560" cy="493776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30952" y="2697480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2B3C"/>
                </a:solidFill>
                <a:latin typeface="Calibri"/>
              </a:rPr>
              <a:t>1112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81528"/>
            <a:ext cx="16459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1912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2B3C"/>
                </a:solidFill>
                <a:latin typeface="Calibri"/>
              </a:rPr>
              <a:t>Weighted Avg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081528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76272" y="3191256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0" i="0" dirty="0">
                <a:solidFill>
                  <a:srgbClr val="1A2B3C"/>
                </a:solidFill>
                <a:latin typeface="Calibri"/>
              </a:rPr>
              <a:t>0.94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154680" y="3081528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27832" y="3191256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0" i="0" dirty="0">
                <a:solidFill>
                  <a:srgbClr val="1A2B3C"/>
                </a:solidFill>
                <a:latin typeface="Calibri"/>
              </a:rPr>
              <a:t>0.94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206240" y="3081528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79392" y="3191256"/>
            <a:ext cx="9601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0" i="0" dirty="0">
                <a:solidFill>
                  <a:srgbClr val="1A2B3C"/>
                </a:solidFill>
                <a:latin typeface="Calibri"/>
              </a:rPr>
              <a:t>0.95</a:t>
            </a:r>
            <a:endParaRPr sz="12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257800" y="3081528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30952" y="319125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2B3C"/>
                </a:solidFill>
                <a:latin typeface="Calibri"/>
              </a:rPr>
              <a:t>2513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7490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Confusion Matrix (Estimated)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206240"/>
            <a:ext cx="164592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433425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103120" y="4206240"/>
            <a:ext cx="155448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48840" y="433425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Pred: Organic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4206240"/>
            <a:ext cx="173736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03320" y="433425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Pred: Recyclable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800600"/>
            <a:ext cx="164592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492861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Act: Organic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03120" y="4800600"/>
            <a:ext cx="1554480" cy="594360"/>
          </a:xfrm>
          <a:prstGeom prst="rect">
            <a:avLst/>
          </a:prstGeom>
          <a:solidFill>
            <a:srgbClr val="D4EDD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00FF00"/>
              </a:highlight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148840" y="492861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 dirty="0">
                <a:solidFill>
                  <a:srgbClr val="1A6A30"/>
                </a:solidFill>
                <a:latin typeface="Calibri"/>
              </a:rPr>
              <a:t>1289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480060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703320" y="492861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2B3C"/>
                </a:solidFill>
                <a:latin typeface="Calibri"/>
              </a:rPr>
              <a:t>112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394960"/>
            <a:ext cx="164592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55229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Act: Recyclable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03120" y="5394960"/>
            <a:ext cx="1554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148840" y="5522976"/>
            <a:ext cx="15087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50" b="0" i="0" dirty="0">
                <a:solidFill>
                  <a:srgbClr val="1A2B3C"/>
                </a:solidFill>
                <a:latin typeface="Calibri"/>
              </a:rPr>
              <a:t>35</a:t>
            </a:r>
            <a:endParaRPr sz="115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657600" y="5394960"/>
            <a:ext cx="1737360" cy="594360"/>
          </a:xfrm>
          <a:prstGeom prst="rect">
            <a:avLst/>
          </a:prstGeom>
          <a:solidFill>
            <a:srgbClr val="D4EDDA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03320" y="5522976"/>
            <a:ext cx="16916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50" b="0" i="0" dirty="0">
                <a:solidFill>
                  <a:srgbClr val="1A6A30"/>
                </a:solidFill>
                <a:latin typeface="Calibri"/>
              </a:rPr>
              <a:t>1077</a:t>
            </a:r>
            <a:endParaRPr sz="1150" b="0" i="0" dirty="0">
              <a:solidFill>
                <a:srgbClr val="1A6A30"/>
              </a:solidFill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8368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Sample Predictions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1600200"/>
            <a:ext cx="2468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75120" y="167335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2B3C"/>
                </a:solidFill>
                <a:latin typeface="Calibri"/>
              </a:rPr>
              <a:t>🥦 Organic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205740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8AA4BB"/>
                </a:solidFill>
                <a:latin typeface="Calibri"/>
              </a:rPr>
              <a:t>Pulses</a:t>
            </a:r>
            <a:endParaRPr sz="1400" b="0" i="0" dirty="0">
              <a:solidFill>
                <a:srgbClr val="8AA4BB"/>
              </a:solidFill>
              <a:latin typeface="Calibr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675120" y="2404872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✅ Correct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5440" y="1600200"/>
            <a:ext cx="2468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326880" y="167335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🍌 Organic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80" y="205740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8AA4BB"/>
                </a:solidFill>
                <a:latin typeface="Calibri"/>
              </a:rPr>
              <a:t>Carrots</a:t>
            </a:r>
            <a:endParaRPr sz="1400" b="0" i="0" dirty="0">
              <a:solidFill>
                <a:srgbClr val="8AA4BB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26880" y="2404872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✅ Correct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3291840"/>
            <a:ext cx="2468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675120" y="336499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🥤 Recyclable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120" y="374904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8AA4BB"/>
                </a:solidFill>
                <a:latin typeface="Calibri"/>
              </a:rPr>
              <a:t>Plastic toy</a:t>
            </a:r>
            <a:endParaRPr sz="1400" b="0" i="0" dirty="0">
              <a:solidFill>
                <a:srgbClr val="8AA4BB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675120" y="4096512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✅ Correct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35440" y="3291840"/>
            <a:ext cx="2468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326880" y="336499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2B3C"/>
                </a:solidFill>
                <a:latin typeface="Calibri"/>
              </a:rPr>
              <a:t>📦 </a:t>
            </a:r>
            <a:r>
              <a:rPr lang="en-IN" sz="1600" b="1" i="0" dirty="0">
                <a:solidFill>
                  <a:srgbClr val="1A2B3C"/>
                </a:solidFill>
                <a:latin typeface="Calibri"/>
              </a:rPr>
              <a:t>Organic</a:t>
            </a:r>
            <a:endParaRPr sz="1600" b="1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326880" y="374904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8AA4BB"/>
                </a:solidFill>
                <a:latin typeface="Calibri"/>
              </a:rPr>
              <a:t>Peels</a:t>
            </a:r>
            <a:endParaRPr sz="1400" b="0" i="0" dirty="0">
              <a:solidFill>
                <a:srgbClr val="8AA4BB"/>
              </a:solidFill>
              <a:latin typeface="Calibri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326880" y="4096512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✅ Correct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0" y="4983480"/>
            <a:ext cx="2468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675120" y="505663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3C"/>
                </a:solidFill>
                <a:latin typeface="Calibri"/>
              </a:rPr>
              <a:t>🥬 Organic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0" y="544068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8AA4BB"/>
                </a:solidFill>
                <a:latin typeface="Calibri"/>
              </a:rPr>
              <a:t>Carrots</a:t>
            </a:r>
            <a:endParaRPr sz="1400" b="0" i="0" dirty="0">
              <a:solidFill>
                <a:srgbClr val="8AA4BB"/>
              </a:solidFill>
              <a:latin typeface="Calibri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675120" y="5788152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✅ Correct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35440" y="4983480"/>
            <a:ext cx="2468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326880" y="505663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2B3C"/>
                </a:solidFill>
                <a:latin typeface="Calibri"/>
              </a:rPr>
              <a:t>🛍 Recyclable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26880" y="544068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8AA4BB"/>
                </a:solidFill>
                <a:latin typeface="Calibri"/>
              </a:rPr>
              <a:t>Straws</a:t>
            </a:r>
            <a:endParaRPr sz="1400" b="0" i="0" dirty="0">
              <a:solidFill>
                <a:srgbClr val="8AA4BB"/>
              </a:solidFill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326880" y="5788152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✅ Correct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896112"/>
          </a:xfrm>
          <a:prstGeom prst="rect">
            <a:avLst/>
          </a:prstGeom>
          <a:solidFill>
            <a:srgbClr val="0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Observations &amp;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📊  Observations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394960" cy="978408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82296" cy="9784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85623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High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4028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Model achieved ~90% val accuracy using transfer learning with minimal training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98648"/>
            <a:ext cx="5394960" cy="978408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898648"/>
            <a:ext cx="82296" cy="9784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Fast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55848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EarlyStopping triggered around epoch 4–5, showing efficient feature reuse from ImageNet.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14216"/>
            <a:ext cx="5394960" cy="978408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014216"/>
            <a:ext cx="82296" cy="9784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08736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Minimal Overfitting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71416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Dropout + augmentation kept train-val gap under 3%, indicating good generalization.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29784"/>
            <a:ext cx="5394960" cy="978408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129784"/>
            <a:ext cx="82296" cy="9784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520293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Binary Simplicity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86984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2-class problem well-suited for MobileNetV2; more complex waste streams may need richer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18872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🚀  Future Improvements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783080"/>
            <a:ext cx="5303520" cy="978408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783080"/>
            <a:ext cx="82296" cy="978408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01968" y="1856232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Multi-class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240280"/>
            <a:ext cx="4983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Expand beyond 2 classes — plastic, glass, metal, e-waste — for real-world utility.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98648"/>
            <a:ext cx="5303520" cy="978408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2898648"/>
            <a:ext cx="82296" cy="978408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2971800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Larger Dataset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355848"/>
            <a:ext cx="4983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Include more diverse waste images across geographies &amp; lighting conditions.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014216"/>
            <a:ext cx="5303520" cy="978408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4014216"/>
            <a:ext cx="82296" cy="978408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1968" y="4087368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Model Compression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4471416"/>
            <a:ext cx="4983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Deploy MobileNetV2 on edge devices (Raspberry Pi, mobile) for physical waste bins.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129784"/>
            <a:ext cx="5303520" cy="978408"/>
          </a:xfrm>
          <a:prstGeom prst="rect">
            <a:avLst/>
          </a:prstGeom>
          <a:solidFill>
            <a:srgbClr val="0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5129784"/>
            <a:ext cx="82296" cy="978408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01968" y="5202936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Real-time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5586984"/>
            <a:ext cx="4983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A4BB"/>
                </a:solidFill>
                <a:latin typeface="Calibri"/>
              </a:rPr>
              <a:t>Integrate with a camera feed + YOLO-style detection for conveyor-belt sorting.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FD9FF-9555-8AA8-A07F-A18DBABF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35E5C3-FBF2-B9DF-F829-AA1CE1861A29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6D66DB-283A-371E-0BAD-7E57DAF57AF0}"/>
              </a:ext>
            </a:extLst>
          </p:cNvPr>
          <p:cNvSpPr txBox="1"/>
          <p:nvPr/>
        </p:nvSpPr>
        <p:spPr>
          <a:xfrm>
            <a:off x="3703320" y="433425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Pred: Recyclable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008B29-DAE9-902E-4220-FCC3D5CD0103}"/>
              </a:ext>
            </a:extLst>
          </p:cNvPr>
          <p:cNvSpPr txBox="1"/>
          <p:nvPr/>
        </p:nvSpPr>
        <p:spPr>
          <a:xfrm>
            <a:off x="502920" y="55229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Act: Recyclable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BFDE59B-5875-0A03-FFDD-E2D30D592FA7}"/>
              </a:ext>
            </a:extLst>
          </p:cNvPr>
          <p:cNvSpPr txBox="1"/>
          <p:nvPr/>
        </p:nvSpPr>
        <p:spPr>
          <a:xfrm>
            <a:off x="3483292" y="2828835"/>
            <a:ext cx="5222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7200" b="1" i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4147747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622</Words>
  <Application>Microsoft Office PowerPoint</Application>
  <PresentationFormat>Custom</PresentationFormat>
  <Paragraphs>173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Jiya Palod</cp:lastModifiedBy>
  <cp:revision>4</cp:revision>
  <dcterms:created xsi:type="dcterms:W3CDTF">2013-01-27T09:14:16Z</dcterms:created>
  <dcterms:modified xsi:type="dcterms:W3CDTF">2026-04-24T04:40:13Z</dcterms:modified>
  <cp:category/>
</cp:coreProperties>
</file>